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af99846c-e4c1-5611-9aaf-a156af46bb85}">
          <p14:sldIdLst>
            <p14:sldId id="256"/>
            <p14:sldId id="257"/>
          </p14:sldIdLst>
        </p14:section>
        <p14:section name="Part A" id="{38e43712-0ecd-4b97-ca5e-2fc1b93edcf0}">
          <p14:sldIdLst>
            <p14:sldId id="258"/>
            <p14:sldId id="259"/>
          </p14:sldIdLst>
        </p14:section>
        <p14:section name="Part B" id="{7bbb3ebe-bca7-92d0-e5f0-877ec83b7aba}">
          <p14:sldIdLst>
            <p14:sldId id="260"/>
            <p14:sldId id="261"/>
            <p14:sldId id="262"/>
          </p14:sldIdLst>
        </p14:section>
        <p14:section name="Part C" id="{141b06e4-ce80-2ced-e0b9-d781673bb56b}">
          <p14:sldIdLst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272B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4272B"/>
                </a:solidFill>
                <a:latin typeface="+mn-lt"/>
              </a:rPr>
              <a:t>End of speech → answer audio, stage p50 (ms)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p50 ms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7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Hangover</c:v>
                  </c:pt>
                  <c:pt idx="1">
                    <c:v>STT (Groq Whisper)</c:v>
                  </c:pt>
                  <c:pt idx="2">
                    <c:v>LLM pipeline</c:v>
                  </c:pt>
                  <c:pt idx="3">
                    <c:v>TTS first chunk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576</c:v>
                </c:pt>
                <c:pt idx="1">
                  <c:v>669</c:v>
                </c:pt>
                <c:pt idx="2">
                  <c:v>2755</c:v>
                </c:pt>
                <c:pt idx="3">
                  <c:v>1273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427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427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EF5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B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PulseNest is a fictional home health-device brand (BP monitor, oximeter, thermometer, scale, app). The domain adds a safety dimension: the bot must never interpret readings.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Model: in-house Qwen3.8-27B-AWQ-INT4. Source: eval/results/text_eval_2026-10-19.json.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list with reasons: docs/red_team.md. All voice runs use real recordings of one speaker on a laptop mic; accents and phone-line audio are untested.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5176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9CC9C3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B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B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PulseNest Support Assistant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5176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dirty="0">
                <a:solidFill>
                  <a:srgbClr val="9CC9C3"/>
                </a:solidFill>
              </a:rPr>
              <a:t>Agentic customer support over text and voice: grounded answers, tool calls, guardrails that hold, and a phone line that knows when it's being interrupted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turn takes one guarded path, text or voice</a:t>
            </a:r>
            <a:endParaRPr lang="en-US" sz="2800" dirty="0"/>
          </a:p>
        </p:txBody>
      </p:sp>
      <p:sp>
        <p:nvSpPr>
          <p:cNvPr id="3" name="step0"/>
          <p:cNvSpPr/>
          <p:nvPr/>
        </p:nvSpPr>
        <p:spPr>
          <a:xfrm>
            <a:off x="457200" y="1234440"/>
            <a:ext cx="182880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18288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Input guard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mints CheckedMessage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 rot="5400000">
            <a:off x="2331720" y="1572768"/>
            <a:ext cx="182880" cy="237744"/>
          </a:xfrm>
          <a:prstGeom prst="rtTriangl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step1"/>
          <p:cNvSpPr/>
          <p:nvPr/>
        </p:nvSpPr>
        <p:spPr>
          <a:xfrm>
            <a:off x="2560320" y="1234440"/>
            <a:ext cx="1828800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60320" y="1234440"/>
            <a:ext cx="18288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Router + cache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4 intents, cached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 rot="5400000">
            <a:off x="4434840" y="1572768"/>
            <a:ext cx="182880" cy="237744"/>
          </a:xfrm>
          <a:prstGeom prst="rtTriangl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step2"/>
          <p:cNvSpPr/>
          <p:nvPr/>
        </p:nvSpPr>
        <p:spPr>
          <a:xfrm>
            <a:off x="4663440" y="1234440"/>
            <a:ext cx="182880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234440"/>
            <a:ext cx="18288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Agent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RAG · Tools · Human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 rot="5400000">
            <a:off x="6537960" y="1572768"/>
            <a:ext cx="182880" cy="237744"/>
          </a:xfrm>
          <a:prstGeom prst="rtTriangl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step3"/>
          <p:cNvSpPr/>
          <p:nvPr/>
        </p:nvSpPr>
        <p:spPr>
          <a:xfrm>
            <a:off x="6766560" y="1234440"/>
            <a:ext cx="1828800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0" y="1234440"/>
            <a:ext cx="18288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Output guard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confirmed facts only</a:t>
            </a:r>
            <a:endParaRPr lang="en-US" sz="1500" dirty="0"/>
          </a:p>
        </p:txBody>
      </p:sp>
      <p:sp>
        <p:nvSpPr>
          <p:cNvPr id="14" name="textcard"/>
          <p:cNvSpPr/>
          <p:nvPr/>
        </p:nvSpPr>
        <p:spPr>
          <a:xfrm>
            <a:off x="457200" y="2514600"/>
            <a:ext cx="39776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card-head"/>
          <p:cNvSpPr txBox="1"/>
          <p:nvPr/>
        </p:nvSpPr>
        <p:spPr>
          <a:xfrm>
            <a:off x="594360" y="260604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Text</a:t>
            </a:r>
            <a:endParaRPr lang="en-US" sz="1500" dirty="0"/>
          </a:p>
        </p:txBody>
      </p:sp>
      <p:sp>
        <p:nvSpPr>
          <p:cNvPr id="16" name="textcard-body"/>
          <p:cNvSpPr txBox="1"/>
          <p:nvPr/>
        </p:nvSpPr>
        <p:spPr>
          <a:xfrm>
            <a:off x="594360" y="2990088"/>
            <a:ext cx="370332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Dense RAG over 15 KB docs (MiniLM, chosen on recall and score separation)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Read-only order tools via function calling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Escalation files a handoff ticket, no LLM</a:t>
            </a:r>
            <a:endParaRPr lang="en-US" sz="1200" dirty="0"/>
          </a:p>
        </p:txBody>
      </p:sp>
      <p:sp>
        <p:nvSpPr>
          <p:cNvPr id="17" name="voicecard"/>
          <p:cNvSpPr/>
          <p:nvPr/>
        </p:nvSpPr>
        <p:spPr>
          <a:xfrm>
            <a:off x="4709160" y="2514600"/>
            <a:ext cx="39776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voicecard-head"/>
          <p:cNvSpPr txBox="1"/>
          <p:nvPr/>
        </p:nvSpPr>
        <p:spPr>
          <a:xfrm>
            <a:off x="4846320" y="260604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Voice</a:t>
            </a:r>
            <a:endParaRPr lang="en-US" sz="1500" dirty="0"/>
          </a:p>
        </p:txBody>
      </p:sp>
      <p:sp>
        <p:nvSpPr>
          <p:cNvPr id="19" name="voicecard-body"/>
          <p:cNvSpPr txBox="1"/>
          <p:nvPr/>
        </p:nvSpPr>
        <p:spPr>
          <a:xfrm>
            <a:off x="4846320" y="2990088"/>
            <a:ext cx="370332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Silero VAD → STT (Groq Whisper → local int8)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Same text pipeline and guards (channel=voice)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Streaming TTS → Edge → canned audio; one fixed voice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B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 are structural, not keyword lists</a:t>
            </a:r>
            <a:endParaRPr lang="en-US" sz="2800" dirty="0"/>
          </a:p>
        </p:txBody>
      </p:sp>
      <p:sp>
        <p:nvSpPr>
          <p:cNvPr id="3" name="nobypass"/>
          <p:cNvSpPr/>
          <p:nvPr/>
        </p:nvSpPr>
        <p:spPr>
          <a:xfrm>
            <a:off x="457200" y="1143000"/>
            <a:ext cx="397764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nobypass-head"/>
          <p:cNvSpPr txBox="1"/>
          <p:nvPr/>
        </p:nvSpPr>
        <p:spPr>
          <a:xfrm>
            <a:off x="594360" y="123444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No unchecked path to an agent</a:t>
            </a:r>
            <a:endParaRPr lang="en-US" sz="1500" dirty="0"/>
          </a:p>
        </p:txBody>
      </p:sp>
      <p:sp>
        <p:nvSpPr>
          <p:cNvPr id="5" name="nobypass-body"/>
          <p:cNvSpPr txBox="1"/>
          <p:nvPr/>
        </p:nvSpPr>
        <p:spPr>
          <a:xfrm>
            <a:off x="594360" y="1618488"/>
            <a:ext cx="3703320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CheckedMessage can only be minted with a seal that only the guardrails package may import (import-linter contract)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Handlers reject anything else at runtime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Pipeline never returns a draft that skipped the output guard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Layered input guard: normalise + decode, weighted signals, nonce-delimited LLM classifier</a:t>
            </a:r>
            <a:endParaRPr lang="en-US" sz="1200" dirty="0"/>
          </a:p>
        </p:txBody>
      </p:sp>
      <p:sp>
        <p:nvSpPr>
          <p:cNvPr id="6" name="reconcile"/>
          <p:cNvSpPr/>
          <p:nvPr/>
        </p:nvSpPr>
        <p:spPr>
          <a:xfrm>
            <a:off x="4709160" y="1143000"/>
            <a:ext cx="397764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reconcile-head"/>
          <p:cNvSpPr txBox="1"/>
          <p:nvPr/>
        </p:nvSpPr>
        <p:spPr>
          <a:xfrm>
            <a:off x="4846320" y="123444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Guard vs tool agent, reconciled</a:t>
            </a:r>
            <a:endParaRPr lang="en-US" sz="1500" dirty="0"/>
          </a:p>
        </p:txBody>
      </p:sp>
      <p:sp>
        <p:nvSpPr>
          <p:cNvPr id="8" name="reconcile-body"/>
          <p:cNvSpPr txBox="1"/>
          <p:nvPr/>
        </p:nvSpPr>
        <p:spPr>
          <a:xfrm>
            <a:off x="4846320" y="1618488"/>
            <a:ext cx="3703320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Tools mark which fields are confirmed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Eligibility, window, restocking fee: confirmed → stated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Refund estimate: never confirmed → replaced with 'confirmed after inspection'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Rewrite is visible: rewritten=true, guard note, trace event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B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Measured, including where it degrades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74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routing accuracy (180 rows, behind the input guard)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1887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88%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1874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guard recall, PulseNest attacks (42 rows)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1887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6%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1874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false positives on benign-but-suspicious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11887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51%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1874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classifier cache hit rate, repeat pass</a:t>
            </a:r>
            <a:endParaRPr lang="en-US" sz="1100" dirty="0"/>
          </a:p>
        </p:txBody>
      </p:sp>
      <p:sp>
        <p:nvSpPr>
          <p:cNvPr id="11" name="evalcard"/>
          <p:cNvSpPr/>
          <p:nvPr/>
        </p:nvSpPr>
        <p:spPr>
          <a:xfrm>
            <a:off x="457200" y="2743200"/>
            <a:ext cx="822960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evalcard-head"/>
          <p:cNvSpPr txBox="1"/>
          <p:nvPr/>
        </p:nvSpPr>
        <p:spPr>
          <a:xfrm>
            <a:off x="594360" y="283464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Read with the load caveat</a:t>
            </a:r>
            <a:endParaRPr lang="en-US" sz="1500" dirty="0"/>
          </a:p>
        </p:txBody>
      </p:sp>
      <p:sp>
        <p:nvSpPr>
          <p:cNvPr id="13" name="evalcard-body"/>
          <p:cNvSpPr txBox="1"/>
          <p:nvPr/>
        </p:nvSpPr>
        <p:spPr>
          <a:xfrm>
            <a:off x="594360" y="3218688"/>
            <a:ext cx="79552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Run at 12 concurrent turns: 63/180 routes and most guard checks fell back to deterministic paths (LLM budgets exceeded)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Generic deepset injections: recall 12% (heuristic-only), false positives 0%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Weak spot: return_refund recall 47%, mostly misrouted to escalation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B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Barge-in: duck first, cut only on sustained speech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430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160 ms speech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duck playback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46120" y="118872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4612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11430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560 ms speech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confirm: stop, cancel TTS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1887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11430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silence first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un-duck, keep playing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8229600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34747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 (real recorded caller clips, Groq, Silero)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Silence through full playback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plays to the 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clap / keyboard typing during reply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duck, no cut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'Wait, wrong order' mid-reply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 ~0.8 s after caller starts; one new turn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'Uh.' then real interruption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ducks and resumes, second cuts; 2 turns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'Uh-huh' backchannel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ducked, resumed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Caller talks over the greeting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greeting cut; caller is turn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B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Latency: the caller hears us in 1.4 s; the LLM dominates the answer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51206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943600" y="11887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1.38 s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943600" y="1874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end of speech → first audio (filler), p50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24231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5.3 s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3108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end of speech → first answer audio, p50 (p95 6.5 s)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36576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Real recorded caller clips on Groq. Clock starts at the caller's last voiced 32 ms frame. LLM ≈ 52%: 4–5 sequential calls at 0.3–0.7 s. In-house server was 10.6 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B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provider can fail; a turn cannot hang</a:t>
            </a:r>
            <a:endParaRPr lang="en-US" sz="2800" dirty="0"/>
          </a:p>
        </p:txBody>
      </p:sp>
      <p:sp>
        <p:nvSpPr>
          <p:cNvPr id="3" name="stt"/>
          <p:cNvSpPr/>
          <p:nvPr/>
        </p:nvSpPr>
        <p:spPr>
          <a:xfrm>
            <a:off x="457200" y="1143000"/>
            <a:ext cx="2606040" cy="338328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t-head"/>
          <p:cNvSpPr txBox="1"/>
          <p:nvPr/>
        </p:nvSpPr>
        <p:spPr>
          <a:xfrm>
            <a:off x="594360" y="1234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STT</a:t>
            </a:r>
            <a:endParaRPr lang="en-US" sz="1500" dirty="0"/>
          </a:p>
        </p:txBody>
      </p:sp>
      <p:sp>
        <p:nvSpPr>
          <p:cNvPr id="5" name="stt-body"/>
          <p:cNvSpPr txBox="1"/>
          <p:nvPr/>
        </p:nvSpPr>
        <p:spPr>
          <a:xfrm>
            <a:off x="594360" y="1618488"/>
            <a:ext cx="2331720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Groq Whisper → local faster-whisper int8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4 s timeout, no retry after a timeout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Circuit breaker skips a dead provider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All down: 'sorry, I didn't catch that'</a:t>
            </a:r>
            <a:endParaRPr lang="en-US" sz="1200" dirty="0"/>
          </a:p>
        </p:txBody>
      </p:sp>
      <p:sp>
        <p:nvSpPr>
          <p:cNvPr id="6" name="tts"/>
          <p:cNvSpPr/>
          <p:nvPr/>
        </p:nvSpPr>
        <p:spPr>
          <a:xfrm>
            <a:off x="3268980" y="1143000"/>
            <a:ext cx="2606040" cy="338328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ts-head"/>
          <p:cNvSpPr txBox="1"/>
          <p:nvPr/>
        </p:nvSpPr>
        <p:spPr>
          <a:xfrm>
            <a:off x="3406140" y="1234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TTS</a:t>
            </a:r>
            <a:endParaRPr lang="en-US" sz="1500" dirty="0"/>
          </a:p>
        </p:txBody>
      </p:sp>
      <p:sp>
        <p:nvSpPr>
          <p:cNvPr id="8" name="tts-body"/>
          <p:cNvSpPr txBox="1"/>
          <p:nvPr/>
        </p:nvSpPr>
        <p:spPr>
          <a:xfrm>
            <a:off x="3406140" y="1618488"/>
            <a:ext cx="2331720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In-house streaming → Edge TTS → canned audio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First-chunk and inter-chunk timeouts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Mid-stream failure restarts the reply on fallback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Scenario 07: drop after 2 chunks → Edge, 3/3 answered</a:t>
            </a:r>
            <a:endParaRPr lang="en-US" sz="1200" dirty="0"/>
          </a:p>
        </p:txBody>
      </p:sp>
      <p:sp>
        <p:nvSpPr>
          <p:cNvPr id="9" name="llm"/>
          <p:cNvSpPr/>
          <p:nvPr/>
        </p:nvSpPr>
        <p:spPr>
          <a:xfrm>
            <a:off x="6080760" y="1143000"/>
            <a:ext cx="2606040" cy="338328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llm-head"/>
          <p:cNvSpPr txBox="1"/>
          <p:nvPr/>
        </p:nvSpPr>
        <p:spPr>
          <a:xfrm>
            <a:off x="6217920" y="1234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LLM</a:t>
            </a:r>
            <a:endParaRPr lang="en-US" sz="1500" dirty="0"/>
          </a:p>
        </p:txBody>
      </p:sp>
      <p:sp>
        <p:nvSpPr>
          <p:cNvPr id="11" name="llm-body"/>
          <p:cNvSpPr txBox="1"/>
          <p:nvPr/>
        </p:nvSpPr>
        <p:spPr>
          <a:xfrm>
            <a:off x="6217920" y="1618488"/>
            <a:ext cx="2331720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Every stage has a deterministic fallback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Rule routing, templated tool answers, extractive RAG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Circuit breaker: fail fast, not seconds of retries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Filler keeps the line alive at 1.4 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B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Scale, extend and survive a provider outage</a:t>
            </a:r>
            <a:endParaRPr lang="en-US" sz="2800" dirty="0"/>
          </a:p>
        </p:txBody>
      </p:sp>
      <p:sp>
        <p:nvSpPr>
          <p:cNvPr id="3" name="scale"/>
          <p:cNvSpPr/>
          <p:nvPr/>
        </p:nvSpPr>
        <p:spPr>
          <a:xfrm>
            <a:off x="457200" y="1143000"/>
            <a:ext cx="2606040" cy="338328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cale-head"/>
          <p:cNvSpPr txBox="1"/>
          <p:nvPr/>
        </p:nvSpPr>
        <p:spPr>
          <a:xfrm>
            <a:off x="594360" y="1234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10k sessions</a:t>
            </a:r>
            <a:endParaRPr lang="en-US" sz="1500" dirty="0"/>
          </a:p>
        </p:txBody>
      </p:sp>
      <p:sp>
        <p:nvSpPr>
          <p:cNvPr id="5" name="scale-body"/>
          <p:cNvSpPr txBox="1"/>
          <p:nvPr/>
        </p:nvSpPr>
        <p:spPr>
          <a:xfrm>
            <a:off x="594360" y="1618488"/>
            <a:ext cx="2331720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Stateless async workers; state in Redis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≈500 turns/s → size the model fleet in tokens/s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Small router/guard models, cache, deterministic paths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Per-role concurrency limits, turn budgets</a:t>
            </a:r>
            <a:endParaRPr lang="en-US" sz="1200" dirty="0"/>
          </a:p>
        </p:txBody>
      </p:sp>
      <p:sp>
        <p:nvSpPr>
          <p:cNvPr id="6" name="agent4"/>
          <p:cNvSpPr/>
          <p:nvPr/>
        </p:nvSpPr>
        <p:spPr>
          <a:xfrm>
            <a:off x="3268980" y="1143000"/>
            <a:ext cx="2606040" cy="338328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agent4-head"/>
          <p:cNvSpPr txBox="1"/>
          <p:nvPr/>
        </p:nvSpPr>
        <p:spPr>
          <a:xfrm>
            <a:off x="3406140" y="1234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A 4th agent</a:t>
            </a:r>
            <a:endParaRPr lang="en-US" sz="1500" dirty="0"/>
          </a:p>
        </p:txBody>
      </p:sp>
      <p:sp>
        <p:nvSpPr>
          <p:cNvPr id="8" name="agent4-body"/>
          <p:cNvSpPr txBox="1"/>
          <p:nvPr/>
        </p:nvSpPr>
        <p:spPr>
          <a:xfrm>
            <a:off x="3406140" y="1618488"/>
            <a:ext cx="2331720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Write a Handler, register it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Router prompt + schema generated from the registry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Prompt hash in the cache key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Gate: no intent loses &gt;2 pts recall</a:t>
            </a:r>
            <a:endParaRPr lang="en-US" sz="1200" dirty="0"/>
          </a:p>
        </p:txBody>
      </p:sp>
      <p:sp>
        <p:nvSpPr>
          <p:cNvPr id="9" name="failover"/>
          <p:cNvSpPr/>
          <p:nvPr/>
        </p:nvSpPr>
        <p:spPr>
          <a:xfrm>
            <a:off x="6080760" y="1143000"/>
            <a:ext cx="2606040" cy="338328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failover-head"/>
          <p:cNvSpPr txBox="1"/>
          <p:nvPr/>
        </p:nvSpPr>
        <p:spPr>
          <a:xfrm>
            <a:off x="6217920" y="1234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Groq degrades</a:t>
            </a:r>
            <a:endParaRPr lang="en-US" sz="1500" dirty="0"/>
          </a:p>
        </p:txBody>
      </p:sp>
      <p:sp>
        <p:nvSpPr>
          <p:cNvPr id="11" name="failover-body"/>
          <p:cNvSpPr txBox="1"/>
          <p:nvPr/>
        </p:nvSpPr>
        <p:spPr>
          <a:xfrm>
            <a:off x="6217920" y="1618488"/>
            <a:ext cx="2331720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Detect: per-role p95, errors, breaker state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Fail over router/guard first, agent last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Only to models pre-qualified on the eval suite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Deterministic output guard keeps safety constant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B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our own system still fails</a:t>
            </a:r>
            <a:endParaRPr lang="en-US" sz="2800" dirty="0"/>
          </a:p>
        </p:txBody>
      </p:sp>
      <p:sp>
        <p:nvSpPr>
          <p:cNvPr id="3" name="fail0"/>
          <p:cNvSpPr/>
          <p:nvPr/>
        </p:nvSpPr>
        <p:spPr>
          <a:xfrm>
            <a:off x="457200" y="1143000"/>
            <a:ext cx="39776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fail0-head"/>
          <p:cNvSpPr txBox="1"/>
          <p:nvPr/>
        </p:nvSpPr>
        <p:spPr>
          <a:xfrm>
            <a:off x="594360" y="123444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Hinglish injections</a:t>
            </a:r>
            <a:endParaRPr lang="en-US" sz="1500" dirty="0"/>
          </a:p>
        </p:txBody>
      </p:sp>
      <p:sp>
        <p:nvSpPr>
          <p:cNvPr id="5" name="fail0-body"/>
          <p:cNvSpPr txBox="1"/>
          <p:nvPr/>
        </p:nvSpPr>
        <p:spPr>
          <a:xfrm>
            <a:off x="594360" y="1618488"/>
            <a:ext cx="3703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Deterministic guard scores 0; only the LLM catches them</a:t>
            </a:r>
            <a:endParaRPr lang="en-US" sz="1200" dirty="0"/>
          </a:p>
        </p:txBody>
      </p:sp>
      <p:sp>
        <p:nvSpPr>
          <p:cNvPr id="6" name="fail1"/>
          <p:cNvSpPr/>
          <p:nvPr/>
        </p:nvSpPr>
        <p:spPr>
          <a:xfrm>
            <a:off x="4709160" y="1143000"/>
            <a:ext cx="39776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fail1-head"/>
          <p:cNvSpPr txBox="1"/>
          <p:nvPr/>
        </p:nvSpPr>
        <p:spPr>
          <a:xfrm>
            <a:off x="4846320" y="123444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Paraphrased promises</a:t>
            </a:r>
            <a:endParaRPr lang="en-US" sz="1500" dirty="0"/>
          </a:p>
        </p:txBody>
      </p:sp>
      <p:sp>
        <p:nvSpPr>
          <p:cNvPr id="8" name="fail1-body"/>
          <p:cNvSpPr txBox="1"/>
          <p:nvPr/>
        </p:nvSpPr>
        <p:spPr>
          <a:xfrm>
            <a:off x="4846320" y="1618488"/>
            <a:ext cx="3703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'with you on Friday' passes when the rubric LLM is down</a:t>
            </a:r>
            <a:endParaRPr lang="en-US" sz="1200" dirty="0"/>
          </a:p>
        </p:txBody>
      </p:sp>
      <p:sp>
        <p:nvSpPr>
          <p:cNvPr id="9" name="fail2"/>
          <p:cNvSpPr/>
          <p:nvPr/>
        </p:nvSpPr>
        <p:spPr>
          <a:xfrm>
            <a:off x="457200" y="2834640"/>
            <a:ext cx="39776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fail2-head"/>
          <p:cNvSpPr txBox="1"/>
          <p:nvPr/>
        </p:nvSpPr>
        <p:spPr>
          <a:xfrm>
            <a:off x="594360" y="29260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Backchannel margin</a:t>
            </a:r>
            <a:endParaRPr lang="en-US" sz="1500" dirty="0"/>
          </a:p>
        </p:txBody>
      </p:sp>
      <p:sp>
        <p:nvSpPr>
          <p:cNvPr id="11" name="fail2-body"/>
          <p:cNvSpPr txBox="1"/>
          <p:nvPr/>
        </p:nvSpPr>
        <p:spPr>
          <a:xfrm>
            <a:off x="594360" y="3310128"/>
            <a:ext cx="3703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'Uh-huh' over hum: 11/11 cut at 480 ms, 0/11 at 560 ms; one voice</a:t>
            </a:r>
            <a:endParaRPr lang="en-US" sz="1200" dirty="0"/>
          </a:p>
        </p:txBody>
      </p:sp>
      <p:sp>
        <p:nvSpPr>
          <p:cNvPr id="12" name="fail3"/>
          <p:cNvSpPr/>
          <p:nvPr/>
        </p:nvSpPr>
        <p:spPr>
          <a:xfrm>
            <a:off x="4709160" y="2834640"/>
            <a:ext cx="39776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fail3-head"/>
          <p:cNvSpPr txBox="1"/>
          <p:nvPr/>
        </p:nvSpPr>
        <p:spPr>
          <a:xfrm>
            <a:off x="4846320" y="29260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Unheard replies in history</a:t>
            </a:r>
            <a:endParaRPr lang="en-US" sz="1500" dirty="0"/>
          </a:p>
        </p:txBody>
      </p:sp>
      <p:sp>
        <p:nvSpPr>
          <p:cNvPr id="14" name="fail3-body"/>
          <p:cNvSpPr txBox="1"/>
          <p:nvPr/>
        </p:nvSpPr>
        <p:spPr>
          <a:xfrm>
            <a:off x="4846320" y="3310128"/>
            <a:ext cx="3703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A barge-in leaves the full reply in session history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B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5176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dirty="0">
                <a:solidFill>
                  <a:srgbClr val="9CC9C3"/>
                </a:solidFill>
              </a:rPr>
              <a:t>Re-run voice scenarios on real recordings · add a Groq key (STT under 1 s) · streaming ASR for semantic end-of-turn and backchannel detection · deferred history save after barge-in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ulseNest">
  <a:themeElements>
    <a:clrScheme name="PulseNest">
      <a:dk1>
        <a:srgbClr val="14272B"/>
      </a:dk1>
      <a:lt1>
        <a:srgbClr val="FFFFFF"/>
      </a:lt1>
      <a:dk2>
        <a:srgbClr val="0B3C43"/>
      </a:dk2>
      <a:lt2>
        <a:srgbClr val="EEF5F5"/>
      </a:lt2>
      <a:accent1>
        <a:srgbClr val="0E7C86"/>
      </a:accent1>
      <a:accent2>
        <a:srgbClr val="2BB3A3"/>
      </a:accent2>
      <a:accent3>
        <a:srgbClr val="F2A541"/>
      </a:accent3>
      <a:accent4>
        <a:srgbClr val="C8553D"/>
      </a:accent4>
      <a:accent5>
        <a:srgbClr val="5B7B80"/>
      </a:accent5>
      <a:accent6>
        <a:srgbClr val="9CC9C3"/>
      </a:accent6>
      <a:hlink>
        <a:srgbClr val="0E7C86"/>
      </a:hlink>
      <a:folHlink>
        <a:srgbClr val="5B7B80"/>
      </a:folHlink>
    </a:clrScheme>
    <a:fontScheme name="PulseNes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PulseNest Support Assistant</dc:title>
  <dc:subject>PptxGenJS Presentation</dc:subject>
  <dc:creator>PptxGenJS</dc:creator>
  <cp:lastModifiedBy>PptxGenJS</cp:lastModifiedBy>
  <cp:revision>1</cp:revision>
  <dcterms:created xsi:type="dcterms:W3CDTF">2026-10-20T04:35:49Z</dcterms:created>
  <dcterms:modified xsi:type="dcterms:W3CDTF">2026-10-20T04:35:49Z</dcterms:modified>
</cp:coreProperties>
</file>