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charts/chart1.xml" ContentType="application/vnd.openxmlformats-officedocument.drawingml.chart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notesMasterIdLst>
    <p:notesMasterId r:id="rId12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Overview" id="{43810442-2e70-673f-9000-63cae38fc93e}">
          <p14:sldIdLst>
            <p14:sldId id="256"/>
            <p14:sldId id="257"/>
          </p14:sldIdLst>
        </p14:section>
        <p14:section name="Part A" id="{fc1fdd9c-cb20-f0e7-3ad0-b7a07753375e}">
          <p14:sldIdLst>
            <p14:sldId id="258"/>
            <p14:sldId id="259"/>
          </p14:sldIdLst>
        </p14:section>
        <p14:section name="Part B" id="{5255d7d0-86a1-c606-fe8f-f8d643aa535e}">
          <p14:sldIdLst>
            <p14:sldId id="260"/>
            <p14:sldId id="261"/>
            <p14:sldId id="262"/>
          </p14:sldIdLst>
        </p14:section>
        <p14:section name="Part C" id="{1e7b401c-0fe6-d37f-fa23-028e9655e591}">
          <p14:sldIdLst>
            <p14:sldId id="263"/>
            <p14:sldId id="264"/>
            <p14:sldId id="26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/><Relationship Id="rId14" Type="http://schemas.openxmlformats.org/officeDocument/2006/relationships/viewProps" Target="viewProps.xml"/><Relationship Id="rId15" Type="http://schemas.openxmlformats.org/officeDocument/2006/relationships/theme" Target="theme/theme1.xml"/><Relationship Id="rId16" Type="http://schemas.openxmlformats.org/officeDocument/2006/relationships/tableStyles" Target="tableStyles.xml"/></Relationships>
</file>

<file path=ppt/charts/_rels/chart1.xml.rels><?xml version="1.0" encoding="UTF-8" standalone="yes"?><Relationships xmlns="http://schemas.openxmlformats.org/package/2006/relationships"><Relationship Id="rId1" Type="http://schemas.openxmlformats.org/officeDocument/2006/relationships/package" Target="../embeddings/Microsoft_Excel_Worksheet1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roundedCorners val="1"/>
  <c:chart>
    <c:title>
      <c:tx>
        <c:rich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r>
              <a:rPr sz="1200" b="0" i="0" u="none" strike="noStrike">
                <a:solidFill>
                  <a:srgbClr val="14272B"/>
                </a:solidFill>
                <a:latin typeface="+mn-lt"/>
              </a:rPr>
              <a:t>End of speech → answer audio, stage p50 (ms)</a:t>
            </a:r>
          </a:p>
        </c:rich>
      </c:tx>
      <c:layout/>
      <c:overlay val="0"/>
    </c:title>
    <c:autoTitleDeleted val="0"/>
    <c:plotArea>
      <c:layout/>
      <c:barChart>
        <c:barDir val="bar"/>
        <c:grouping val="clustere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p50 ms</c:v>
                </c:pt>
              </c:strCache>
            </c:strRef>
          </c:tx>
          <c:spPr>
            <a:solidFill>
              <a:srgbClr val="0E7C86"/>
            </a:solidFill>
            <a:effectLst/>
          </c:spPr>
          <c:invertIfNegative val="0"/>
          <c:dLbls>
            <c:numFmt formatCode="#,##0" sourceLinked="0"/>
            <c:txPr>
              <a:bodyPr/>
              <a:lstStyle/>
              <a:p>
                <a:pPr>
                  <a:defRPr b="0" i="0" strike="noStrike" sz="1100" u="none">
                    <a:solidFill>
                      <a:srgbClr val="14272B"/>
                    </a:solidFill>
                    <a:latin typeface="+mn-lt"/>
                  </a:defRPr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0"/>
          </c:dLbls>
          <c:cat>
            <c:multiLvlStrRef>
              <c:f>Sheet1!$A$2:$A$5</c:f>
              <c:multiLvlStrCache>
                <c:ptCount val="4"/>
                <c:lvl>
                  <c:pt idx="0">
                    <c:v>Hangover</c:v>
                  </c:pt>
                  <c:pt idx="1">
                    <c:v>STT (Groq Whisper)</c:v>
                  </c:pt>
                  <c:pt idx="2">
                    <c:v>LLM pipeline</c:v>
                  </c:pt>
                  <c:pt idx="3">
                    <c:v>TTS first chunk</c:v>
                  </c:pt>
                </c:lvl>
              </c:multiLvlStrCache>
            </c:multiLvlStrRef>
          </c:cat>
          <c:val>
            <c:numRef>
              <c:f>Sheet1!$B$2:$B$5</c:f>
              <c:numCache>
                <c:formatCode>General</c:formatCode>
                <c:ptCount val="4"/>
                <c:pt idx="0">
                  <c:v>576</c:v>
                </c:pt>
                <c:pt idx="1">
                  <c:v>669</c:v>
                </c:pt>
                <c:pt idx="2">
                  <c:v>2755</c:v>
                </c:pt>
                <c:pt idx="3">
                  <c:v>1273</c:v>
                </c:pt>
              </c:numCache>
            </c:numRef>
          </c:val>
        </c:ser>
        <c:dLbls>
          <c:numFmt formatCode="#,##0" sourceLinked="0"/>
          <c:txPr>
            <a:bodyPr/>
            <a:lstStyle/>
            <a:p>
              <a:pPr>
                <a:defRPr b="0" i="0" strike="noStrike" sz="1100" u="none">
                  <a:solidFill>
                    <a:srgbClr val="14272B"/>
                  </a:solidFill>
                  <a:latin typeface="+mn-lt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0"/>
        </c:dLbls>
        <c:gapWidth val="150"/>
        <c:overlap val="0"/>
        <c:axId val="2094734554"/>
        <c:axId val="2094734552"/>
        <c:axId val="2094734556"/>
      </c:barChart>
      <c:catAx>
        <c:axId val="2094734554"/>
        <c:scaling>
          <c:orientation val="minMax"/>
        </c:scaling>
        <c:delete val="0"/>
        <c:axPos val="l"/>
        <c:numFmt formatCode="General" sourceLinked="1"/>
        <c:majorTickMark val="out"/>
        <c:minorTickMark val="none"/>
        <c:tickLblPos val="nextTo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14272B"/>
                </a:solidFill>
                <a:latin typeface="+mn-lt"/>
              </a:defRPr>
            </a:pPr>
            <a:endParaRPr lang="en-US"/>
          </a:p>
        </c:txPr>
        <c:crossAx val="2094734552"/>
        <c:crosses val="autoZero"/>
        <c:auto val="1"/>
        <c:lblAlgn val="ctr"/>
        <c:noMultiLvlLbl val="1"/>
      </c:catAx>
      <c:valAx>
        <c:axId val="2094734552"/>
        <c:scaling>
          <c:orientation val="minMax"/>
        </c:scaling>
        <c:delete val="0"/>
        <c:axPos val="b"/>
        <c:majorGridlines>
          <c:spPr>
            <a:ln w="6350" cap="flat">
              <a:solidFill>
                <a:srgbClr val="EEF5F5"/>
              </a:solidFill>
              <a:prstDash val="solid"/>
              <a:round/>
            </a:ln>
          </c:spPr>
        </c:majorGridlines>
        <c:numFmt formatCode="General" sourceLinked="0"/>
        <c:majorTickMark val="out"/>
        <c:minorTickMark val="none"/>
        <c:tickLblPos val="low"/>
        <c:spPr>
          <a:ln w="12700" cap="flat">
            <a:solidFill>
              <a:srgbClr val="888888"/>
            </a:solidFill>
            <a:prstDash val="solid"/>
            <a:round/>
          </a:ln>
        </c:spPr>
        <c:txPr>
          <a:bodyPr/>
          <a:lstStyle/>
          <a:p>
            <a:pPr>
              <a:defRPr sz="1200" b="0" i="0" u="none" strike="noStrike">
                <a:solidFill>
                  <a:srgbClr val="5B7B80"/>
                </a:solidFill>
                <a:latin typeface="+mn-lt"/>
              </a:defRPr>
            </a:pPr>
            <a:endParaRPr lang="en-US"/>
          </a:p>
        </c:txPr>
        <c:crossAx val="2094734554"/>
        <c:crosses val="autoZero"/>
        <c:crossBetween val="between"/>
      </c:valAx>
      <c:spPr>
        <a:noFill/>
        <a:ln>
          <a:noFill/>
        </a:ln>
        <a:effectLst/>
      </c:spPr>
    </c:plotArea>
    <c:plotVisOnly val="1"/>
    <c:dispBlanksAs val="span"/>
  </c:chart>
  <c:spPr>
    <a:noFill/>
    <a:ln>
      <a:noFill/>
    </a:ln>
    <a:effectLst/>
  </c:spPr>
  <c:externalData r:id="rId1">
    <c:autoUpdate val="0"/>
  </c:externalData>
</c:chartSpace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PulseNest is a fictional home health-device brand (BP monitor, oximeter, thermometer, scale, app). The domain adds a safety dimension: the bot must never interpret readings.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Groq: router gpt-oss-20b, guard gpt-oss-120b. Source: eval/results/text_eval_2026-10-20.json.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Full list with reasons: docs/red_team.md. All voice runs use real recordings of one speaker on a laptop mic; accents and phone-line audio are untested.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0B3C4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1800" dirty="0">
                <a:solidFill>
                  <a:srgbClr val="9CC9C3"/>
                </a:solidFill>
              </a:defRPr>
            </a:lvl1pPr>
          </a:lstStyle>
          <a:p>
            <a:pPr indent="0" marL="0">
              <a:buNone/>
            </a:pPr>
            <a:endParaRPr lang="en-US" sz="18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indent="0" marL="0">
              <a:buNone/>
            </a:pPr>
            <a:endParaRPr lang="en-US" sz="2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chart" Target="/ppt/charts/chart1.xml"/><Relationship Id="rId2" Type="http://schemas.openxmlformats.org/officeDocument/2006/relationships/slideLayout" Target="../slideLayouts/slideLayout3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PulseNest Support Assistant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Agentic customer support over text and voice: grounded answers, tool calls, guardrails that hold, and a phone line that knows when it's being interrupted</a:t>
            </a:r>
            <a:endParaRPr lang="en-US" sz="18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Every turn takes one guarded path, text or voice</a:t>
            </a:r>
            <a:endParaRPr lang="en-US" sz="2800" dirty="0"/>
          </a:p>
        </p:txBody>
      </p:sp>
      <p:sp>
        <p:nvSpPr>
          <p:cNvPr id="3" name="step0"/>
          <p:cNvSpPr/>
          <p:nvPr/>
        </p:nvSpPr>
        <p:spPr>
          <a:xfrm>
            <a:off x="45720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Input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mints CheckedMessage</a:t>
            </a:r>
            <a:endParaRPr lang="en-US" sz="1500" dirty="0"/>
          </a:p>
        </p:txBody>
      </p:sp>
      <p:sp>
        <p:nvSpPr>
          <p:cNvPr id="5" name="Shape 3"/>
          <p:cNvSpPr/>
          <p:nvPr/>
        </p:nvSpPr>
        <p:spPr>
          <a:xfrm rot="5400000">
            <a:off x="233172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6" name="step1"/>
          <p:cNvSpPr/>
          <p:nvPr/>
        </p:nvSpPr>
        <p:spPr>
          <a:xfrm>
            <a:off x="256032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256032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Router + cache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4 intents, cached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 rot="5400000">
            <a:off x="443484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9" name="step2"/>
          <p:cNvSpPr/>
          <p:nvPr/>
        </p:nvSpPr>
        <p:spPr>
          <a:xfrm>
            <a:off x="466344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1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466344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Agent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RAG · Tools · Human</a:t>
            </a:r>
            <a:endParaRPr lang="en-US" sz="1500" dirty="0"/>
          </a:p>
        </p:txBody>
      </p:sp>
      <p:sp>
        <p:nvSpPr>
          <p:cNvPr id="11" name="Shape 9"/>
          <p:cNvSpPr/>
          <p:nvPr/>
        </p:nvSpPr>
        <p:spPr>
          <a:xfrm rot="5400000">
            <a:off x="6537960" y="1572768"/>
            <a:ext cx="182880" cy="237744"/>
          </a:xfrm>
          <a:prstGeom prst="rtTriangle">
            <a:avLst/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2" name="step3"/>
          <p:cNvSpPr/>
          <p:nvPr/>
        </p:nvSpPr>
        <p:spPr>
          <a:xfrm>
            <a:off x="6766560" y="1234440"/>
            <a:ext cx="1828800" cy="914400"/>
          </a:xfrm>
          <a:prstGeom prst="roundRect">
            <a:avLst>
              <a:gd name="adj" fmla="val 8000"/>
            </a:avLst>
          </a:prstGeom>
          <a:solidFill>
            <a:schemeClr val="accent2"/>
          </a:solidFill>
          <a:ln w="12700">
            <a:solidFill>
              <a:schemeClr val="accent1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6766560" y="1234440"/>
            <a:ext cx="1828800" cy="914400"/>
          </a:xfrm>
          <a:prstGeom prst="rect">
            <a:avLst/>
          </a:prstGeom>
          <a:noFill/>
          <a:ln/>
        </p:spPr>
        <p:txBody>
          <a:bodyPr wrap="square" lIns="635" tIns="635" rIns="635" bIns="635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chemeClr val="bg1"/>
                </a:solidFill>
              </a:rPr>
              <a:t>Output guard</a:t>
            </a:r>
            <a:endParaRPr lang="en-US" sz="1500" dirty="0"/>
          </a:p>
          <a:p>
            <a:pPr algn="ctr" indent="0" marL="0">
              <a:buNone/>
            </a:pPr>
            <a:r>
              <a:rPr lang="en-US" sz="1100" dirty="0">
                <a:solidFill>
                  <a:schemeClr val="bg1"/>
                </a:solidFill>
              </a:rPr>
              <a:t>confirmed facts only</a:t>
            </a:r>
            <a:endParaRPr lang="en-US" sz="1500" dirty="0"/>
          </a:p>
        </p:txBody>
      </p:sp>
      <p:sp>
        <p:nvSpPr>
          <p:cNvPr id="14" name="textcard"/>
          <p:cNvSpPr/>
          <p:nvPr/>
        </p:nvSpPr>
        <p:spPr>
          <a:xfrm>
            <a:off x="45720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5" name="textcard-head"/>
          <p:cNvSpPr txBox="1"/>
          <p:nvPr/>
        </p:nvSpPr>
        <p:spPr>
          <a:xfrm>
            <a:off x="59436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Text</a:t>
            </a:r>
            <a:endParaRPr lang="en-US" sz="1500" dirty="0"/>
          </a:p>
        </p:txBody>
      </p:sp>
      <p:sp>
        <p:nvSpPr>
          <p:cNvPr id="16" name="textcard-body"/>
          <p:cNvSpPr txBox="1"/>
          <p:nvPr/>
        </p:nvSpPr>
        <p:spPr>
          <a:xfrm>
            <a:off x="59436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Dense RAG over 15 KB docs (MiniLM, chosen on recall and score separation)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Read-only order tools via function calling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Escalation files a handoff ticket, no LLM</a:t>
            </a:r>
            <a:endParaRPr lang="en-US" sz="1200" dirty="0"/>
          </a:p>
        </p:txBody>
      </p:sp>
      <p:sp>
        <p:nvSpPr>
          <p:cNvPr id="17" name="voicecard"/>
          <p:cNvSpPr/>
          <p:nvPr/>
        </p:nvSpPr>
        <p:spPr>
          <a:xfrm>
            <a:off x="4709160" y="2514600"/>
            <a:ext cx="3977640" cy="2011680"/>
          </a:xfrm>
          <a:prstGeom prst="roundRect">
            <a:avLst>
              <a:gd name="adj" fmla="val 3636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8" name="voicecard-head"/>
          <p:cNvSpPr txBox="1"/>
          <p:nvPr/>
        </p:nvSpPr>
        <p:spPr>
          <a:xfrm>
            <a:off x="4846320" y="26060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Voice</a:t>
            </a:r>
            <a:endParaRPr lang="en-US" sz="1500" dirty="0"/>
          </a:p>
        </p:txBody>
      </p:sp>
      <p:sp>
        <p:nvSpPr>
          <p:cNvPr id="19" name="voicecard-body"/>
          <p:cNvSpPr txBox="1"/>
          <p:nvPr/>
        </p:nvSpPr>
        <p:spPr>
          <a:xfrm>
            <a:off x="4846320" y="2990088"/>
            <a:ext cx="3703320" cy="1444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Silero VAD → STT (Groq Whisper → local int8)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Same text pipeline and guards (channel=voice)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Streaming TTS → Edge → canned audio; one fixed voice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Guardrails are structural, not keyword lists</a:t>
            </a:r>
            <a:endParaRPr lang="en-US" sz="2800" dirty="0"/>
          </a:p>
        </p:txBody>
      </p:sp>
      <p:sp>
        <p:nvSpPr>
          <p:cNvPr id="3" name="nobypass"/>
          <p:cNvSpPr/>
          <p:nvPr/>
        </p:nvSpPr>
        <p:spPr>
          <a:xfrm>
            <a:off x="45720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nobypass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No unchecked path to an agent</a:t>
            </a:r>
            <a:endParaRPr lang="en-US" sz="1500" dirty="0"/>
          </a:p>
        </p:txBody>
      </p:sp>
      <p:sp>
        <p:nvSpPr>
          <p:cNvPr id="5" name="nobypass-body"/>
          <p:cNvSpPr txBox="1"/>
          <p:nvPr/>
        </p:nvSpPr>
        <p:spPr>
          <a:xfrm>
            <a:off x="59436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CheckedMessage can only be minted with a seal that only the guardrails package may import (import-linter contract)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Handlers reject anything else at runtime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Pipeline never returns a draft that skipped the output guard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Layered input guard: normalise + decode, weighted signals, nonce-delimited LLM classifier</a:t>
            </a:r>
            <a:endParaRPr lang="en-US" sz="1200" dirty="0"/>
          </a:p>
        </p:txBody>
      </p:sp>
      <p:sp>
        <p:nvSpPr>
          <p:cNvPr id="6" name="reconcile"/>
          <p:cNvSpPr/>
          <p:nvPr/>
        </p:nvSpPr>
        <p:spPr>
          <a:xfrm>
            <a:off x="4709160" y="1143000"/>
            <a:ext cx="3977640" cy="3383280"/>
          </a:xfrm>
          <a:prstGeom prst="roundRect">
            <a:avLst>
              <a:gd name="adj" fmla="val 216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reconcile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Guard vs tool agent, reconciled</a:t>
            </a:r>
            <a:endParaRPr lang="en-US" sz="1500" dirty="0"/>
          </a:p>
        </p:txBody>
      </p:sp>
      <p:sp>
        <p:nvSpPr>
          <p:cNvPr id="8" name="reconcile-body"/>
          <p:cNvSpPr txBox="1"/>
          <p:nvPr/>
        </p:nvSpPr>
        <p:spPr>
          <a:xfrm>
            <a:off x="4846320" y="1618488"/>
            <a:ext cx="37033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Tools mark which fields are confirmed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Eligibility, window, restocking fee: confirmed → stated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Refund estimate: never confirmed → replaced with 'confirmed after inspection'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Rewrite is visible: rewritten=true, guard note, trace event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Measured on Groq, including where it degrades</a:t>
            </a:r>
            <a:endParaRPr lang="en-US" sz="2800" dirty="0"/>
          </a:p>
        </p:txBody>
      </p:sp>
      <p:sp>
        <p:nvSpPr>
          <p:cNvPr id="3" name="Text 1"/>
          <p:cNvSpPr txBox="1"/>
          <p:nvPr/>
        </p:nvSpPr>
        <p:spPr>
          <a:xfrm>
            <a:off x="45720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85%</a:t>
            </a:r>
            <a:endParaRPr lang="en-US" sz="3600" dirty="0"/>
          </a:p>
        </p:txBody>
      </p:sp>
      <p:sp>
        <p:nvSpPr>
          <p:cNvPr id="4" name="Text 2"/>
          <p:cNvSpPr txBox="1"/>
          <p:nvPr/>
        </p:nvSpPr>
        <p:spPr>
          <a:xfrm>
            <a:off x="45720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routing accuracy (180 rows, behind the input guard)</a:t>
            </a:r>
            <a:endParaRPr lang="en-US" sz="1100" dirty="0"/>
          </a:p>
        </p:txBody>
      </p:sp>
      <p:sp>
        <p:nvSpPr>
          <p:cNvPr id="5" name="Text 3"/>
          <p:cNvSpPr txBox="1"/>
          <p:nvPr/>
        </p:nvSpPr>
        <p:spPr>
          <a:xfrm>
            <a:off x="256032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83%</a:t>
            </a:r>
            <a:endParaRPr lang="en-US" sz="3600" dirty="0"/>
          </a:p>
        </p:txBody>
      </p:sp>
      <p:sp>
        <p:nvSpPr>
          <p:cNvPr id="6" name="Text 4"/>
          <p:cNvSpPr txBox="1"/>
          <p:nvPr/>
        </p:nvSpPr>
        <p:spPr>
          <a:xfrm>
            <a:off x="256032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guard recall, PulseNest attacks, rules only (42 rows)</a:t>
            </a:r>
            <a:endParaRPr lang="en-US" sz="1100" dirty="0"/>
          </a:p>
        </p:txBody>
      </p:sp>
      <p:sp>
        <p:nvSpPr>
          <p:cNvPr id="7" name="Text 5"/>
          <p:cNvSpPr txBox="1"/>
          <p:nvPr/>
        </p:nvSpPr>
        <p:spPr>
          <a:xfrm>
            <a:off x="466344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6%</a:t>
            </a:r>
            <a:endParaRPr lang="en-US" sz="3600" dirty="0"/>
          </a:p>
        </p:txBody>
      </p:sp>
      <p:sp>
        <p:nvSpPr>
          <p:cNvPr id="8" name="Text 6"/>
          <p:cNvSpPr txBox="1"/>
          <p:nvPr/>
        </p:nvSpPr>
        <p:spPr>
          <a:xfrm>
            <a:off x="466344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false positives on benign-but-suspicious</a:t>
            </a:r>
            <a:endParaRPr lang="en-US" sz="1100" dirty="0"/>
          </a:p>
        </p:txBody>
      </p:sp>
      <p:sp>
        <p:nvSpPr>
          <p:cNvPr id="9" name="Text 7"/>
          <p:cNvSpPr txBox="1"/>
          <p:nvPr/>
        </p:nvSpPr>
        <p:spPr>
          <a:xfrm>
            <a:off x="6766560" y="1188720"/>
            <a:ext cx="1920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3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94%</a:t>
            </a:r>
            <a:endParaRPr lang="en-US" sz="3600" dirty="0"/>
          </a:p>
        </p:txBody>
      </p:sp>
      <p:sp>
        <p:nvSpPr>
          <p:cNvPr id="10" name="Text 8"/>
          <p:cNvSpPr txBox="1"/>
          <p:nvPr/>
        </p:nvSpPr>
        <p:spPr>
          <a:xfrm>
            <a:off x="6766560" y="1874520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classifier cache hit rate, repeat pass</a:t>
            </a:r>
            <a:endParaRPr lang="en-US" sz="1100" dirty="0"/>
          </a:p>
        </p:txBody>
      </p:sp>
      <p:sp>
        <p:nvSpPr>
          <p:cNvPr id="11" name="evalcard"/>
          <p:cNvSpPr/>
          <p:nvPr/>
        </p:nvSpPr>
        <p:spPr>
          <a:xfrm>
            <a:off x="457200" y="2743200"/>
            <a:ext cx="8229600" cy="1783080"/>
          </a:xfrm>
          <a:prstGeom prst="roundRect">
            <a:avLst>
              <a:gd name="adj" fmla="val 4103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evalcard-head"/>
          <p:cNvSpPr txBox="1"/>
          <p:nvPr/>
        </p:nvSpPr>
        <p:spPr>
          <a:xfrm>
            <a:off x="594360" y="2834640"/>
            <a:ext cx="7955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Read with the caveats</a:t>
            </a:r>
            <a:endParaRPr lang="en-US" sz="1500" dirty="0"/>
          </a:p>
        </p:txBody>
      </p:sp>
      <p:sp>
        <p:nvSpPr>
          <p:cNvPr id="13" name="evalcard-body"/>
          <p:cNvSpPr txBox="1"/>
          <p:nvPr/>
        </p:nvSpPr>
        <p:spPr>
          <a:xfrm>
            <a:off x="594360" y="3218688"/>
            <a:ext cx="7955280" cy="12161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Routing on Groq: 3/180 routes fell back; weak spot return_refund recall 58%, mostly to escalation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Guard: the guard model hit Groq's daily token cap, so only the rule-based layer was measured (an LLM outage)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Rules alone on generic deepset injections: recall 5%, false positives 0%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Barge-in: duck first, cut only on sustained speech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188720"/>
            <a:ext cx="502920" cy="502920"/>
          </a:xfrm>
          <a:prstGeom prst="ellipse">
            <a:avLst/>
          </a:prstGeom>
          <a:solidFill>
            <a:schemeClr val="accent3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45720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1</a:t>
            </a:r>
            <a:endParaRPr lang="en-US" sz="1600" dirty="0"/>
          </a:p>
        </p:txBody>
      </p:sp>
      <p:sp>
        <p:nvSpPr>
          <p:cNvPr id="5" name="Text 3"/>
          <p:cNvSpPr txBox="1"/>
          <p:nvPr/>
        </p:nvSpPr>
        <p:spPr>
          <a:xfrm>
            <a:off x="105156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160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duck playback</a:t>
            </a:r>
            <a:endParaRPr lang="en-US" sz="1300" dirty="0"/>
          </a:p>
        </p:txBody>
      </p:sp>
      <p:sp>
        <p:nvSpPr>
          <p:cNvPr id="6" name="Shape 4"/>
          <p:cNvSpPr/>
          <p:nvPr/>
        </p:nvSpPr>
        <p:spPr>
          <a:xfrm>
            <a:off x="3246120" y="1188720"/>
            <a:ext cx="502920" cy="502920"/>
          </a:xfrm>
          <a:prstGeom prst="ellipse">
            <a:avLst/>
          </a:prstGeom>
          <a:solidFill>
            <a:schemeClr val="accent4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24612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2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384048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560 ms speech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confirm: stop, cancel TTS</a:t>
            </a:r>
            <a:endParaRPr lang="en-US" sz="1300" dirty="0"/>
          </a:p>
        </p:txBody>
      </p:sp>
      <p:sp>
        <p:nvSpPr>
          <p:cNvPr id="9" name="Shape 7"/>
          <p:cNvSpPr/>
          <p:nvPr/>
        </p:nvSpPr>
        <p:spPr>
          <a:xfrm>
            <a:off x="6035040" y="1188720"/>
            <a:ext cx="502920" cy="502920"/>
          </a:xfrm>
          <a:prstGeom prst="ellipse">
            <a:avLst/>
          </a:prstGeom>
          <a:solidFill>
            <a:schemeClr val="accent2"/>
          </a:solidFill>
          <a:ln w="12700">
            <a:solidFill>
              <a:schemeClr val="bg1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035040" y="11887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chemeClr val="bg1"/>
                </a:solidFill>
              </a:rPr>
              <a:t>3</a:t>
            </a:r>
            <a:endParaRPr lang="en-US" sz="1600" dirty="0"/>
          </a:p>
        </p:txBody>
      </p:sp>
      <p:sp>
        <p:nvSpPr>
          <p:cNvPr id="11" name="Text 9"/>
          <p:cNvSpPr txBox="1"/>
          <p:nvPr/>
        </p:nvSpPr>
        <p:spPr>
          <a:xfrm>
            <a:off x="6629400" y="1143000"/>
            <a:ext cx="21031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chemeClr val="tx1"/>
                </a:solidFill>
              </a:rPr>
              <a:t>silence first</a:t>
            </a:r>
            <a:endParaRPr lang="en-US" sz="1300" dirty="0"/>
          </a:p>
          <a:p>
            <a:pPr indent="0" marL="0">
              <a:buNone/>
            </a:pPr>
            <a:r>
              <a:rPr lang="en-US" sz="1300" dirty="0">
                <a:solidFill>
                  <a:schemeClr val="tx1"/>
                </a:solidFill>
              </a:rPr>
              <a:t>un-duck, keep playing</a:t>
            </a:r>
            <a:endParaRPr lang="en-US" sz="13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57200" y="2011680"/>
          <a:ext cx="8229600" cy="914400"/>
        </p:xfrm>
        <a:graphic>
          <a:graphicData uri="http://schemas.openxmlformats.org/drawingml/2006/table">
            <a:tbl>
              <a:tblPr/>
              <a:tblGrid>
                <a:gridCol w="4754880"/>
                <a:gridCol w="3474720"/>
              </a:tblGrid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Scenario (real recorded caller clips, Groq, Silero)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Result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E7C86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Silence through full playback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plays to the end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Real clap / keyboard typing during 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 duck, no cut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'Wait, wrong order' mid-reply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cut ~0.8 s after caller starts; one new turn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'Uh.' then real interruption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first ducks and resumes, second cuts; 2 turns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'Uh-huh' backchannel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ducked, resumed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5F5"/>
                    </a:solidFill>
                  </a:tcPr>
                </a:tc>
              </a:tr>
              <a:tr h="347472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Caller talks over the greeting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14272B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greeting cut; caller is turn 1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91440" marR="91440" marT="45720" marB="45720">
                    <a:lnL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EF5F5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Latency: the caller hears us in 1.4 s; the LLM dominates the answer</a:t>
            </a:r>
            <a:endParaRPr lang="en-US" sz="2800" dirty="0"/>
          </a:p>
        </p:txBody>
      </p:sp>
      <p:graphicFrame>
        <p:nvGraphicFramePr>
          <p:cNvPr id="3" name="Chart 0" descr=""/>
          <p:cNvGraphicFramePr/>
          <p:nvPr/>
        </p:nvGraphicFramePr>
        <p:xfrm>
          <a:off x="457200" y="1097280"/>
          <a:ext cx="5120640" cy="3474720"/>
        </p:xfrm>
        <a:graphic xmlns:a="http://schemas.openxmlformats.org/drawingml/2006/main">
          <a:graphicData uri="http://schemas.openxmlformats.org/drawingml/2006/chart">
            <c:chart xmlns:c="http://schemas.openxmlformats.org/drawingml/2006/chart" r:id="rId1"/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943600" y="118872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1.38 s</a:t>
            </a:r>
            <a:endParaRPr lang="en-US" sz="3600" dirty="0"/>
          </a:p>
        </p:txBody>
      </p:sp>
      <p:sp>
        <p:nvSpPr>
          <p:cNvPr id="5" name="Text 2"/>
          <p:cNvSpPr txBox="1"/>
          <p:nvPr/>
        </p:nvSpPr>
        <p:spPr>
          <a:xfrm>
            <a:off x="5943600" y="187452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audio (filler at 0.8 s; now 3 s), p50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943600" y="2423160"/>
            <a:ext cx="2743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chemeClr val="accent4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5.3 s</a:t>
            </a:r>
            <a:endParaRPr lang="en-US" sz="3600" dirty="0"/>
          </a:p>
        </p:txBody>
      </p:sp>
      <p:sp>
        <p:nvSpPr>
          <p:cNvPr id="7" name="Text 4"/>
          <p:cNvSpPr txBox="1"/>
          <p:nvPr/>
        </p:nvSpPr>
        <p:spPr>
          <a:xfrm>
            <a:off x="5943600" y="3108960"/>
            <a:ext cx="2743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end of speech → first answer audio, p50 (p95 6.5 s)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943600" y="3657600"/>
            <a:ext cx="2743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chemeClr val="tx1"/>
                </a:solidFill>
              </a:rPr>
              <a:t>Real recorded caller clips on Groq. Clock starts at the caller's last voiced 32 ms frame. LLM ≈ 52%: 4–5 sequential calls at 0.3–0.7 s. In-house server was 10.6 s.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A provider can fail; a turn cannot hang</a:t>
            </a:r>
            <a:endParaRPr lang="en-US" sz="2800" dirty="0"/>
          </a:p>
        </p:txBody>
      </p:sp>
      <p:sp>
        <p:nvSpPr>
          <p:cNvPr id="3" name="stt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tt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STT</a:t>
            </a:r>
            <a:endParaRPr lang="en-US" sz="1500" dirty="0"/>
          </a:p>
        </p:txBody>
      </p:sp>
      <p:sp>
        <p:nvSpPr>
          <p:cNvPr id="5" name="stt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Groq Whisper → local faster-whisper int8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4 s timeout, no retry after a timeout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 skips a dead provider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All down: 'sorry, I didn't catch that'</a:t>
            </a:r>
            <a:endParaRPr lang="en-US" sz="1200" dirty="0"/>
          </a:p>
        </p:txBody>
      </p:sp>
      <p:sp>
        <p:nvSpPr>
          <p:cNvPr id="6" name="tts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ts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TTS</a:t>
            </a:r>
            <a:endParaRPr lang="en-US" sz="1500" dirty="0"/>
          </a:p>
        </p:txBody>
      </p:sp>
      <p:sp>
        <p:nvSpPr>
          <p:cNvPr id="8" name="tts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In-house streaming → Edge TTS → canned audio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First-chunk and inter-chunk timeouts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Mid-stream failure restarts the reply on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Scenario 07: drop after 2 chunks → Edge, 3/3 answered</a:t>
            </a:r>
            <a:endParaRPr lang="en-US" sz="1200" dirty="0"/>
          </a:p>
        </p:txBody>
      </p:sp>
      <p:sp>
        <p:nvSpPr>
          <p:cNvPr id="9" name="llm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llm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3"/>
                </a:solidFill>
              </a:rPr>
              <a:t>LLM</a:t>
            </a:r>
            <a:endParaRPr lang="en-US" sz="1500" dirty="0"/>
          </a:p>
        </p:txBody>
      </p:sp>
      <p:sp>
        <p:nvSpPr>
          <p:cNvPr id="11" name="llm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Every stage has a deterministic fallback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Rule routing, templated tool answers, extractive RAG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Circuit breaker: fail fast, not seconds of retries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Filler keeps the line alive at 1.4 s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Scale, extend and survive a provider outage</a:t>
            </a:r>
            <a:endParaRPr lang="en-US" sz="2800" dirty="0"/>
          </a:p>
        </p:txBody>
      </p:sp>
      <p:sp>
        <p:nvSpPr>
          <p:cNvPr id="3" name="scale"/>
          <p:cNvSpPr/>
          <p:nvPr/>
        </p:nvSpPr>
        <p:spPr>
          <a:xfrm>
            <a:off x="45720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cale-head"/>
          <p:cNvSpPr txBox="1"/>
          <p:nvPr/>
        </p:nvSpPr>
        <p:spPr>
          <a:xfrm>
            <a:off x="59436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1"/>
                </a:solidFill>
              </a:rPr>
              <a:t>10k sessions</a:t>
            </a:r>
            <a:endParaRPr lang="en-US" sz="1500" dirty="0"/>
          </a:p>
        </p:txBody>
      </p:sp>
      <p:sp>
        <p:nvSpPr>
          <p:cNvPr id="5" name="scale-body"/>
          <p:cNvSpPr txBox="1"/>
          <p:nvPr/>
        </p:nvSpPr>
        <p:spPr>
          <a:xfrm>
            <a:off x="59436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Stateless async workers; state in Redis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≈500 turns/s → size the model fleet in tokens/s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Small router/guard models, cache, deterministic paths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Per-role concurrency limits, turn budgets</a:t>
            </a:r>
            <a:endParaRPr lang="en-US" sz="1200" dirty="0"/>
          </a:p>
        </p:txBody>
      </p:sp>
      <p:sp>
        <p:nvSpPr>
          <p:cNvPr id="6" name="agent4"/>
          <p:cNvSpPr/>
          <p:nvPr/>
        </p:nvSpPr>
        <p:spPr>
          <a:xfrm>
            <a:off x="326898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agent4-head"/>
          <p:cNvSpPr txBox="1"/>
          <p:nvPr/>
        </p:nvSpPr>
        <p:spPr>
          <a:xfrm>
            <a:off x="340614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2"/>
                </a:solidFill>
              </a:rPr>
              <a:t>A 4th agent</a:t>
            </a:r>
            <a:endParaRPr lang="en-US" sz="1500" dirty="0"/>
          </a:p>
        </p:txBody>
      </p:sp>
      <p:sp>
        <p:nvSpPr>
          <p:cNvPr id="8" name="agent4-body"/>
          <p:cNvSpPr txBox="1"/>
          <p:nvPr/>
        </p:nvSpPr>
        <p:spPr>
          <a:xfrm>
            <a:off x="340614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Write a Handler, register it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Router prompt + schema generated from the registry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Prompt hash in the cache key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Gate: no intent loses &gt;2 pts recall</a:t>
            </a:r>
            <a:endParaRPr lang="en-US" sz="1200" dirty="0"/>
          </a:p>
        </p:txBody>
      </p:sp>
      <p:sp>
        <p:nvSpPr>
          <p:cNvPr id="9" name="failover"/>
          <p:cNvSpPr/>
          <p:nvPr/>
        </p:nvSpPr>
        <p:spPr>
          <a:xfrm>
            <a:off x="6080760" y="1143000"/>
            <a:ext cx="2606040" cy="3383280"/>
          </a:xfrm>
          <a:prstGeom prst="roundRect">
            <a:avLst>
              <a:gd name="adj" fmla="val 280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over-head"/>
          <p:cNvSpPr txBox="1"/>
          <p:nvPr/>
        </p:nvSpPr>
        <p:spPr>
          <a:xfrm>
            <a:off x="6217920" y="1234440"/>
            <a:ext cx="23317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Groq degrades</a:t>
            </a:r>
            <a:endParaRPr lang="en-US" sz="1500" dirty="0"/>
          </a:p>
        </p:txBody>
      </p:sp>
      <p:sp>
        <p:nvSpPr>
          <p:cNvPr id="11" name="failover-body"/>
          <p:cNvSpPr txBox="1"/>
          <p:nvPr/>
        </p:nvSpPr>
        <p:spPr>
          <a:xfrm>
            <a:off x="6217920" y="1618488"/>
            <a:ext cx="2331720" cy="28163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Detect: per-role p95, errors, breaker state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Fail over router/guard first, agent last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Only to models pre-qualified on the eval suite</a:t>
            </a:r>
            <a:endParaRPr lang="en-US" sz="1200" dirty="0"/>
          </a:p>
          <a:p>
            <a:pPr marL="342900" indent="-342900">
              <a:spcAft>
                <a:spcPts val="300"/>
              </a:spcAft>
              <a:buSzPct val="100000"/>
              <a:buChar char="•"/>
            </a:pPr>
            <a:r>
              <a:rPr lang="en-US" sz="1200" dirty="0">
                <a:solidFill>
                  <a:schemeClr val="tx1"/>
                </a:solidFill>
              </a:rPr>
              <a:t>Deterministic output guard keeps safety constant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457200" y="274320"/>
            <a:ext cx="8229600" cy="68580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2800" b="1" dirty="0">
                <a:solidFill>
                  <a:schemeClr val="tx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Where our own system still fails</a:t>
            </a:r>
            <a:endParaRPr lang="en-US" sz="2800" dirty="0"/>
          </a:p>
        </p:txBody>
      </p:sp>
      <p:sp>
        <p:nvSpPr>
          <p:cNvPr id="3" name="fail0"/>
          <p:cNvSpPr/>
          <p:nvPr/>
        </p:nvSpPr>
        <p:spPr>
          <a:xfrm>
            <a:off x="45720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fail0-head"/>
          <p:cNvSpPr txBox="1"/>
          <p:nvPr/>
        </p:nvSpPr>
        <p:spPr>
          <a:xfrm>
            <a:off x="59436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Hinglish injections</a:t>
            </a:r>
            <a:endParaRPr lang="en-US" sz="1500" dirty="0"/>
          </a:p>
        </p:txBody>
      </p:sp>
      <p:sp>
        <p:nvSpPr>
          <p:cNvPr id="5" name="fail0-body"/>
          <p:cNvSpPr txBox="1"/>
          <p:nvPr/>
        </p:nvSpPr>
        <p:spPr>
          <a:xfrm>
            <a:off x="59436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Deterministic guard scores 0; only the LLM catches them</a:t>
            </a:r>
            <a:endParaRPr lang="en-US" sz="1200" dirty="0"/>
          </a:p>
        </p:txBody>
      </p:sp>
      <p:sp>
        <p:nvSpPr>
          <p:cNvPr id="6" name="fail1"/>
          <p:cNvSpPr/>
          <p:nvPr/>
        </p:nvSpPr>
        <p:spPr>
          <a:xfrm>
            <a:off x="4709160" y="114300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fail1-head"/>
          <p:cNvSpPr txBox="1"/>
          <p:nvPr/>
        </p:nvSpPr>
        <p:spPr>
          <a:xfrm>
            <a:off x="4846320" y="123444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Paraphrased promises</a:t>
            </a:r>
            <a:endParaRPr lang="en-US" sz="1500" dirty="0"/>
          </a:p>
        </p:txBody>
      </p:sp>
      <p:sp>
        <p:nvSpPr>
          <p:cNvPr id="8" name="fail1-body"/>
          <p:cNvSpPr txBox="1"/>
          <p:nvPr/>
        </p:nvSpPr>
        <p:spPr>
          <a:xfrm>
            <a:off x="4846320" y="161848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'with you on Friday' passes when the rubric LLM is down</a:t>
            </a:r>
            <a:endParaRPr lang="en-US" sz="1200" dirty="0"/>
          </a:p>
        </p:txBody>
      </p:sp>
      <p:sp>
        <p:nvSpPr>
          <p:cNvPr id="9" name="fail2"/>
          <p:cNvSpPr/>
          <p:nvPr/>
        </p:nvSpPr>
        <p:spPr>
          <a:xfrm>
            <a:off x="45720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fail2-head"/>
          <p:cNvSpPr txBox="1"/>
          <p:nvPr/>
        </p:nvSpPr>
        <p:spPr>
          <a:xfrm>
            <a:off x="59436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Backchannel margin</a:t>
            </a:r>
            <a:endParaRPr lang="en-US" sz="1500" dirty="0"/>
          </a:p>
        </p:txBody>
      </p:sp>
      <p:sp>
        <p:nvSpPr>
          <p:cNvPr id="11" name="fail2-body"/>
          <p:cNvSpPr txBox="1"/>
          <p:nvPr/>
        </p:nvSpPr>
        <p:spPr>
          <a:xfrm>
            <a:off x="59436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'Uh-huh' over hum: 11/11 cut at 480 ms, 0/11 at 560 ms; one voice</a:t>
            </a:r>
            <a:endParaRPr lang="en-US" sz="1200" dirty="0"/>
          </a:p>
        </p:txBody>
      </p:sp>
      <p:sp>
        <p:nvSpPr>
          <p:cNvPr id="12" name="fail3"/>
          <p:cNvSpPr/>
          <p:nvPr/>
        </p:nvSpPr>
        <p:spPr>
          <a:xfrm>
            <a:off x="4709160" y="2834640"/>
            <a:ext cx="3977640" cy="1463040"/>
          </a:xfrm>
          <a:prstGeom prst="roundRect">
            <a:avLst>
              <a:gd name="adj" fmla="val 500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fail3-head"/>
          <p:cNvSpPr txBox="1"/>
          <p:nvPr/>
        </p:nvSpPr>
        <p:spPr>
          <a:xfrm>
            <a:off x="4846320" y="2926080"/>
            <a:ext cx="3703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chemeClr val="accent4"/>
                </a:solidFill>
              </a:rPr>
              <a:t>Unheard replies in history</a:t>
            </a:r>
            <a:endParaRPr lang="en-US" sz="1500" dirty="0"/>
          </a:p>
        </p:txBody>
      </p:sp>
      <p:sp>
        <p:nvSpPr>
          <p:cNvPr id="14" name="fail3-body"/>
          <p:cNvSpPr txBox="1"/>
          <p:nvPr/>
        </p:nvSpPr>
        <p:spPr>
          <a:xfrm>
            <a:off x="4846320" y="3310128"/>
            <a:ext cx="3703320" cy="8961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300"/>
              </a:spcAft>
              <a:buNone/>
            </a:pPr>
            <a:r>
              <a:rPr lang="en-US" sz="1200" dirty="0">
                <a:solidFill>
                  <a:schemeClr val="tx1"/>
                </a:solidFill>
              </a:rPr>
              <a:t>A barge-in leaves the full reply in session history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8412480" y="4800600"/>
            <a:ext cx="800000" cy="30000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7B80"/>
                </a:solidFill>
              </a:defRPr>
            </a:lvl1pPr>
          </a:lstStyle>
          <a:p>
            <a:pPr algn="l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1463040"/>
            <a:ext cx="8046720" cy="109728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4000" b="1" dirty="0">
                <a:solidFill>
                  <a:schemeClr val="bg1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Next steps</a:t>
            </a:r>
            <a:endParaRPr lang="en-US" sz="4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548640" y="2651760"/>
            <a:ext cx="8046720" cy="1280160"/>
          </a:xfrm>
          <a:prstGeom prst="rect">
            <a:avLst/>
          </a:prstGeom>
          <a:noFill/>
          <a:ln/>
        </p:spPr>
        <p:txBody>
          <a:bodyPr wrap="square" rtlCol="0"/>
          <a:lstStyle/>
          <a:p>
            <a:pPr indent="0" marL="0">
              <a:buNone/>
            </a:pPr>
            <a:r>
              <a:rPr lang="en-US" sz="1800" dirty="0">
                <a:solidFill>
                  <a:srgbClr val="9CC9C3"/>
                </a:solidFill>
              </a:rPr>
              <a:t>Re-run voice scenarios on real recordings · add a Groq key (STT under 1 s) · streaming ASR for semantic end-of-turn and backchannel detection · deferred history save after barge-in</a:t>
            </a:r>
            <a:endParaRPr lang="en-US" sz="18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PulseNest">
  <a:themeElements>
    <a:clrScheme name="PulseNest">
      <a:dk1>
        <a:srgbClr val="14272B"/>
      </a:dk1>
      <a:lt1>
        <a:srgbClr val="FFFFFF"/>
      </a:lt1>
      <a:dk2>
        <a:srgbClr val="0B3C43"/>
      </a:dk2>
      <a:lt2>
        <a:srgbClr val="EEF5F5"/>
      </a:lt2>
      <a:accent1>
        <a:srgbClr val="0E7C86"/>
      </a:accent1>
      <a:accent2>
        <a:srgbClr val="2BB3A3"/>
      </a:accent2>
      <a:accent3>
        <a:srgbClr val="F2A541"/>
      </a:accent3>
      <a:accent4>
        <a:srgbClr val="C8553D"/>
      </a:accent4>
      <a:accent5>
        <a:srgbClr val="5B7B80"/>
      </a:accent5>
      <a:accent6>
        <a:srgbClr val="9CC9C3"/>
      </a:accent6>
      <a:hlink>
        <a:srgbClr val="0E7C86"/>
      </a:hlink>
      <a:folHlink>
        <a:srgbClr val="5B7B80"/>
      </a:folHlink>
    </a:clrScheme>
    <a:fontScheme name="PulseNest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10</Slides>
  <Notes>10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10</vt:i4>
      </vt:variant>
    </vt:vector>
  </HeadingPairs>
  <TitlesOfParts>
    <vt:vector size="1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PulseNest Support Assistant</dc:title>
  <dc:subject>PptxGenJS Presentation</dc:subject>
  <dc:creator>PptxGenJS</dc:creator>
  <cp:lastModifiedBy>PptxGenJS</cp:lastModifiedBy>
  <cp:revision>1</cp:revision>
  <dcterms:created xsi:type="dcterms:W3CDTF">2026-10-20T06:30:20Z</dcterms:created>
  <dcterms:modified xsi:type="dcterms:W3CDTF">2026-10-20T06:30:20Z</dcterms:modified>
</cp:coreProperties>
</file>